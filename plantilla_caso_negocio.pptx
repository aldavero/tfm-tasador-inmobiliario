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1" r:id="rId2"/>
    <p:sldId id="2563" r:id="rId3"/>
    <p:sldId id="2564" r:id="rId4"/>
    <p:sldId id="2565" r:id="rId5"/>
    <p:sldId id="2566" r:id="rId6"/>
    <p:sldId id="2567" r:id="rId7"/>
    <p:sldId id="2568" r:id="rId8"/>
    <p:sldId id="2569" r:id="rId9"/>
    <p:sldId id="2570" r:id="rId10"/>
    <p:sldId id="2571" r:id="rId11"/>
    <p:sldId id="2572" r:id="rId12"/>
    <p:sldId id="2573" r:id="rId13"/>
    <p:sldId id="2574" r:id="rId14"/>
    <p:sldId id="2575" r:id="rId15"/>
    <p:sldId id="2576" r:id="rId16"/>
    <p:sldId id="2577" r:id="rId17"/>
    <p:sldId id="2578" r:id="rId18"/>
    <p:sldId id="25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siness Case de IA: Visión General" id="{B43D957B-FC8B-4F1E-AF8C-6FBDB50543D1}">
          <p14:sldIdLst>
            <p14:sldId id="2561"/>
            <p14:sldId id="2563"/>
            <p14:sldId id="2564"/>
            <p14:sldId id="2565"/>
            <p14:sldId id="2566"/>
            <p14:sldId id="2567"/>
            <p14:sldId id="2568"/>
            <p14:sldId id="2569"/>
            <p14:sldId id="2570"/>
          </p14:sldIdLst>
        </p14:section>
        <p14:section name="Evaluación" id="{46CE097C-8E56-49C4-A893-4EB7D2DF5C85}">
          <p14:sldIdLst>
            <p14:sldId id="2571"/>
            <p14:sldId id="2572"/>
            <p14:sldId id="2573"/>
            <p14:sldId id="2574"/>
            <p14:sldId id="2575"/>
            <p14:sldId id="2576"/>
            <p14:sldId id="2577"/>
            <p14:sldId id="2578"/>
            <p14:sldId id="25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499" autoAdjust="0"/>
  </p:normalViewPr>
  <p:slideViewPr>
    <p:cSldViewPr snapToGrid="0">
      <p:cViewPr varScale="1">
        <p:scale>
          <a:sx n="85" d="100"/>
          <a:sy n="85" d="100"/>
        </p:scale>
        <p:origin x="15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9F692-34A8-41F7-9D90-74B91D9EC618}" type="datetimeFigureOut">
              <a:t>04/04/2026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DFFEA-7C6A-4A6A-A48E-BA8CA65C4134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54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52AF0-AE2E-4894-BF0D-9955FA841287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01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El Resumen Ejecutivo es la diapositiva más crítica de todo el business case, ya que concentra en un solo vistazo el valor estratégico, económico y operativo del proyecto de Inteligencia Artificial. Esta sección debe redactarse al final, cuando todo el análisis esté completo, para garantizar coherencia y precisión. En primer lugar, se presenta el problema de negocio, describiendo de forma clara y directa el “dolor” actual de la empresa: un proceso ineficiente, costoso, lento o con alta tasa de error que impacta negativamente en los resultados. En segundo lugar, se introduce la solución propuesta, indicando el nombre del modelo o herramienta de IA y explicando en una frase su función principal, siempre orientada a negocio y no a detalles técnicos. El tercer elemento clave es el impacto económico, donde se destaca una cifra concreta y comprensible, como el ahorro anual estimado o el incremento de ingresos esperado gracias a la solución. Por último, se presenta el ROI esperado en el primer año, mostrando a la dirección que la inversión tiene un retorno claro y medible en un horizonte temporal razonable. El objetivo de esta diapositiva es captar la atención inmediata de la alta dirección y permitir que el mensaje completo se entienda en menos de 30 segundos, apoyándose en un diseño limpio, cifras destacadas y mensajes muy concisos.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52AF0-AE2E-4894-BF0D-9955FA841287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90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En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diapositiva</a:t>
            </a:r>
            <a:r>
              <a:rPr lang="en-US" dirty="0"/>
              <a:t> se </a:t>
            </a:r>
            <a:r>
              <a:rPr lang="en-US" dirty="0" err="1"/>
              <a:t>justifica</a:t>
            </a:r>
            <a:r>
              <a:rPr lang="en-US" dirty="0"/>
              <a:t> la </a:t>
            </a:r>
            <a:r>
              <a:rPr lang="en-US" dirty="0" err="1"/>
              <a:t>necesidad</a:t>
            </a:r>
            <a:r>
              <a:rPr lang="en-US" dirty="0"/>
              <a:t> real del </a:t>
            </a:r>
            <a:r>
              <a:rPr lang="en-US" dirty="0" err="1"/>
              <a:t>proyecto</a:t>
            </a:r>
            <a:r>
              <a:rPr lang="en-US" dirty="0"/>
              <a:t>, </a:t>
            </a:r>
            <a:r>
              <a:rPr lang="en-US" dirty="0" err="1"/>
              <a:t>demostrando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no se </a:t>
            </a:r>
            <a:r>
              <a:rPr lang="en-US" dirty="0" err="1"/>
              <a:t>trata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iniciativa</a:t>
            </a:r>
            <a:r>
              <a:rPr lang="en-US" dirty="0"/>
              <a:t> </a:t>
            </a:r>
            <a:r>
              <a:rPr lang="en-US" dirty="0" err="1"/>
              <a:t>tecnológica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moda</a:t>
            </a:r>
            <a:r>
              <a:rPr lang="en-US" dirty="0"/>
              <a:t>, </a:t>
            </a:r>
            <a:r>
              <a:rPr lang="en-US" dirty="0" err="1"/>
              <a:t>sino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respuesta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 a un </a:t>
            </a:r>
            <a:r>
              <a:rPr lang="en-US" dirty="0" err="1"/>
              <a:t>problema</a:t>
            </a:r>
            <a:r>
              <a:rPr lang="en-US" dirty="0"/>
              <a:t> de </a:t>
            </a:r>
            <a:r>
              <a:rPr lang="en-US" dirty="0" err="1"/>
              <a:t>negocio</a:t>
            </a:r>
            <a:r>
              <a:rPr lang="en-US" dirty="0"/>
              <a:t> </a:t>
            </a:r>
            <a:r>
              <a:rPr lang="en-US" dirty="0" err="1"/>
              <a:t>concreto</a:t>
            </a:r>
            <a:r>
              <a:rPr lang="en-US" dirty="0"/>
              <a:t>. La </a:t>
            </a:r>
            <a:r>
              <a:rPr lang="en-US" dirty="0" err="1"/>
              <a:t>descripción</a:t>
            </a:r>
            <a:r>
              <a:rPr lang="en-US" dirty="0"/>
              <a:t> del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detallar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proceso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fallando</a:t>
            </a:r>
            <a:r>
              <a:rPr lang="en-US" dirty="0"/>
              <a:t> </a:t>
            </a:r>
            <a:r>
              <a:rPr lang="en-US" dirty="0" err="1"/>
              <a:t>actualmente</a:t>
            </a:r>
            <a:r>
              <a:rPr lang="en-US" dirty="0"/>
              <a:t> o </a:t>
            </a:r>
            <a:r>
              <a:rPr lang="en-US" dirty="0" err="1"/>
              <a:t>resulta</a:t>
            </a:r>
            <a:r>
              <a:rPr lang="en-US" dirty="0"/>
              <a:t> </a:t>
            </a:r>
            <a:r>
              <a:rPr lang="en-US" dirty="0" err="1"/>
              <a:t>ineficiente</a:t>
            </a:r>
            <a:r>
              <a:rPr lang="en-US" dirty="0"/>
              <a:t>, </a:t>
            </a:r>
            <a:r>
              <a:rPr lang="en-US" dirty="0" err="1"/>
              <a:t>explicando</a:t>
            </a:r>
            <a:r>
              <a:rPr lang="en-US" dirty="0"/>
              <a:t> </a:t>
            </a:r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ejecuta</a:t>
            </a:r>
            <a:r>
              <a:rPr lang="en-US" dirty="0"/>
              <a:t> hoy y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no </a:t>
            </a:r>
            <a:r>
              <a:rPr lang="en-US" dirty="0" err="1"/>
              <a:t>cumple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objetivos</a:t>
            </a:r>
            <a:r>
              <a:rPr lang="en-US" dirty="0"/>
              <a:t> de la </a:t>
            </a:r>
            <a:r>
              <a:rPr lang="en-US" dirty="0" err="1"/>
              <a:t>empresa</a:t>
            </a:r>
            <a:r>
              <a:rPr lang="en-US" dirty="0"/>
              <a:t>. A </a:t>
            </a:r>
            <a:r>
              <a:rPr lang="en-US" dirty="0" err="1"/>
              <a:t>continuación</a:t>
            </a:r>
            <a:r>
              <a:rPr lang="en-US" dirty="0"/>
              <a:t>, se </a:t>
            </a:r>
            <a:r>
              <a:rPr lang="en-US" dirty="0" err="1"/>
              <a:t>identifican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KPIs </a:t>
            </a:r>
            <a:r>
              <a:rPr lang="en-US" dirty="0" err="1"/>
              <a:t>afectados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de </a:t>
            </a:r>
            <a:r>
              <a:rPr lang="en-US" dirty="0" err="1"/>
              <a:t>respuesta</a:t>
            </a:r>
            <a:r>
              <a:rPr lang="en-US" dirty="0"/>
              <a:t> al </a:t>
            </a:r>
            <a:r>
              <a:rPr lang="en-US" dirty="0" err="1"/>
              <a:t>cliente</a:t>
            </a:r>
            <a:r>
              <a:rPr lang="en-US" dirty="0"/>
              <a:t>, la </a:t>
            </a:r>
            <a:r>
              <a:rPr lang="en-US" dirty="0" err="1"/>
              <a:t>tasa</a:t>
            </a:r>
            <a:r>
              <a:rPr lang="en-US" dirty="0"/>
              <a:t> de </a:t>
            </a:r>
            <a:r>
              <a:rPr lang="en-US" dirty="0" err="1"/>
              <a:t>abandono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coste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operación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satisfacción</a:t>
            </a:r>
            <a:r>
              <a:rPr lang="en-US" dirty="0"/>
              <a:t> del </a:t>
            </a:r>
            <a:r>
              <a:rPr lang="en-US" dirty="0" err="1"/>
              <a:t>cliente</a:t>
            </a:r>
            <a:r>
              <a:rPr lang="en-US" dirty="0"/>
              <a:t> o la </a:t>
            </a:r>
            <a:r>
              <a:rPr lang="en-US" dirty="0" err="1"/>
              <a:t>productividad</a:t>
            </a:r>
            <a:r>
              <a:rPr lang="en-US" dirty="0"/>
              <a:t> interna.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indicadores</a:t>
            </a:r>
            <a:r>
              <a:rPr lang="en-US" dirty="0"/>
              <a:t> </a:t>
            </a:r>
            <a:r>
              <a:rPr lang="en-US" dirty="0" err="1"/>
              <a:t>permiten</a:t>
            </a:r>
            <a:r>
              <a:rPr lang="en-US" dirty="0"/>
              <a:t> </a:t>
            </a:r>
            <a:r>
              <a:rPr lang="en-US" dirty="0" err="1"/>
              <a:t>conectar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con </a:t>
            </a:r>
            <a:r>
              <a:rPr lang="en-US" dirty="0" err="1"/>
              <a:t>métricas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dirección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conoce</a:t>
            </a:r>
            <a:r>
              <a:rPr lang="en-US" dirty="0"/>
              <a:t> y </a:t>
            </a:r>
            <a:r>
              <a:rPr lang="en-US" dirty="0" err="1"/>
              <a:t>utiliza</a:t>
            </a:r>
            <a:r>
              <a:rPr lang="en-US" dirty="0"/>
              <a:t> para </a:t>
            </a:r>
            <a:r>
              <a:rPr lang="en-US" dirty="0" err="1"/>
              <a:t>tomar</a:t>
            </a:r>
            <a:r>
              <a:rPr lang="en-US" dirty="0"/>
              <a:t> </a:t>
            </a:r>
            <a:r>
              <a:rPr lang="en-US" dirty="0" err="1"/>
              <a:t>decisiones</a:t>
            </a:r>
            <a:r>
              <a:rPr lang="en-US" dirty="0"/>
              <a:t>. </a:t>
            </a:r>
            <a:r>
              <a:rPr lang="en-US" dirty="0" err="1"/>
              <a:t>Finalmente</a:t>
            </a:r>
            <a:r>
              <a:rPr lang="en-US" dirty="0"/>
              <a:t>, se </a:t>
            </a:r>
            <a:r>
              <a:rPr lang="en-US" dirty="0" err="1"/>
              <a:t>cuantifica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coste</a:t>
            </a:r>
            <a:r>
              <a:rPr lang="en-US" dirty="0"/>
              <a:t> actual </a:t>
            </a:r>
            <a:r>
              <a:rPr lang="en-US" dirty="0" err="1"/>
              <a:t>en</a:t>
            </a:r>
            <a:r>
              <a:rPr lang="en-US" dirty="0"/>
              <a:t> euros, </a:t>
            </a:r>
            <a:r>
              <a:rPr lang="en-US" dirty="0" err="1"/>
              <a:t>estimando</a:t>
            </a:r>
            <a:r>
              <a:rPr lang="en-US" dirty="0"/>
              <a:t> </a:t>
            </a:r>
            <a:r>
              <a:rPr lang="en-US" dirty="0" err="1"/>
              <a:t>cuánto</a:t>
            </a:r>
            <a:r>
              <a:rPr lang="en-US" dirty="0"/>
              <a:t> dinero </a:t>
            </a:r>
            <a:r>
              <a:rPr lang="en-US" dirty="0" err="1"/>
              <a:t>pierde</a:t>
            </a:r>
            <a:r>
              <a:rPr lang="en-US" dirty="0"/>
              <a:t> la </a:t>
            </a:r>
            <a:r>
              <a:rPr lang="en-US" dirty="0" err="1"/>
              <a:t>empresa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no </a:t>
            </a:r>
            <a:r>
              <a:rPr lang="en-US" dirty="0" err="1"/>
              <a:t>solucionar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: horas de </a:t>
            </a:r>
            <a:r>
              <a:rPr lang="en-US" dirty="0" err="1"/>
              <a:t>trabajo</a:t>
            </a:r>
            <a:r>
              <a:rPr lang="en-US" dirty="0"/>
              <a:t> </a:t>
            </a:r>
            <a:r>
              <a:rPr lang="en-US" dirty="0" err="1"/>
              <a:t>desperdiciadas</a:t>
            </a:r>
            <a:r>
              <a:rPr lang="en-US" dirty="0"/>
              <a:t>, </a:t>
            </a:r>
            <a:r>
              <a:rPr lang="en-US" dirty="0" err="1"/>
              <a:t>reprocesos</a:t>
            </a:r>
            <a:r>
              <a:rPr lang="en-US" dirty="0"/>
              <a:t>, </a:t>
            </a:r>
            <a:r>
              <a:rPr lang="en-US" dirty="0" err="1"/>
              <a:t>pérdidas</a:t>
            </a:r>
            <a:r>
              <a:rPr lang="en-US" dirty="0"/>
              <a:t> de </a:t>
            </a:r>
            <a:r>
              <a:rPr lang="en-US" dirty="0" err="1"/>
              <a:t>clientes</a:t>
            </a:r>
            <a:r>
              <a:rPr lang="en-US" dirty="0"/>
              <a:t>, </a:t>
            </a:r>
            <a:r>
              <a:rPr lang="en-US" dirty="0" err="1"/>
              <a:t>sanciones</a:t>
            </a:r>
            <a:r>
              <a:rPr lang="en-US" dirty="0"/>
              <a:t> o </a:t>
            </a:r>
            <a:r>
              <a:rPr lang="en-US" dirty="0" err="1"/>
              <a:t>ineficiencias</a:t>
            </a:r>
            <a:r>
              <a:rPr lang="en-US" dirty="0"/>
              <a:t> </a:t>
            </a:r>
            <a:r>
              <a:rPr lang="en-US" dirty="0" err="1"/>
              <a:t>operativas</a:t>
            </a:r>
            <a:r>
              <a:rPr lang="en-US" dirty="0"/>
              <a:t>. Esta </a:t>
            </a:r>
            <a:r>
              <a:rPr lang="en-US" dirty="0" err="1"/>
              <a:t>cuantificación</a:t>
            </a:r>
            <a:r>
              <a:rPr lang="en-US" dirty="0"/>
              <a:t> </a:t>
            </a:r>
            <a:r>
              <a:rPr lang="en-US" dirty="0" err="1"/>
              <a:t>económica</a:t>
            </a:r>
            <a:r>
              <a:rPr lang="en-US" dirty="0"/>
              <a:t> es clave para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urgencia</a:t>
            </a:r>
            <a:r>
              <a:rPr lang="en-US" dirty="0"/>
              <a:t> y </a:t>
            </a:r>
            <a:r>
              <a:rPr lang="en-US" dirty="0" err="1"/>
              <a:t>preparar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terreno</a:t>
            </a:r>
            <a:r>
              <a:rPr lang="en-US" dirty="0"/>
              <a:t> para </a:t>
            </a:r>
            <a:r>
              <a:rPr lang="en-US" dirty="0" err="1"/>
              <a:t>justificar</a:t>
            </a:r>
            <a:r>
              <a:rPr lang="en-US" dirty="0"/>
              <a:t> la </a:t>
            </a:r>
            <a:r>
              <a:rPr lang="en-US" dirty="0" err="1"/>
              <a:t>inversión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solución</a:t>
            </a:r>
            <a:r>
              <a:rPr lang="en-US" dirty="0"/>
              <a:t> de IA.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52AF0-AE2E-4894-BF0D-9955FA841287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77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La </a:t>
            </a:r>
            <a:r>
              <a:rPr lang="en-US" dirty="0" err="1"/>
              <a:t>Solución</a:t>
            </a:r>
            <a:r>
              <a:rPr lang="en-US" dirty="0"/>
              <a:t> Técnica traduce la </a:t>
            </a:r>
            <a:r>
              <a:rPr lang="en-US" dirty="0" err="1"/>
              <a:t>tecnología</a:t>
            </a:r>
            <a:r>
              <a:rPr lang="en-US" dirty="0"/>
              <a:t> de </a:t>
            </a:r>
            <a:r>
              <a:rPr lang="en-US" dirty="0" err="1"/>
              <a:t>Inteligencia</a:t>
            </a:r>
            <a:r>
              <a:rPr lang="en-US" dirty="0"/>
              <a:t> Artificial a un </a:t>
            </a:r>
            <a:r>
              <a:rPr lang="en-US" dirty="0" err="1"/>
              <a:t>lenguaje</a:t>
            </a:r>
            <a:r>
              <a:rPr lang="en-US" dirty="0"/>
              <a:t> </a:t>
            </a:r>
            <a:r>
              <a:rPr lang="en-US" dirty="0" err="1"/>
              <a:t>comprensible</a:t>
            </a:r>
            <a:r>
              <a:rPr lang="en-US" dirty="0"/>
              <a:t> y </a:t>
            </a:r>
            <a:r>
              <a:rPr lang="en-US" dirty="0" err="1"/>
              <a:t>relevante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negocio</a:t>
            </a:r>
            <a:r>
              <a:rPr lang="en-US" dirty="0"/>
              <a:t>. En primer </a:t>
            </a:r>
            <a:r>
              <a:rPr lang="en-US" dirty="0" err="1"/>
              <a:t>lugar</a:t>
            </a:r>
            <a:r>
              <a:rPr lang="en-US" dirty="0"/>
              <a:t>, se describe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enfoque</a:t>
            </a:r>
            <a:r>
              <a:rPr lang="en-US" dirty="0"/>
              <a:t> </a:t>
            </a:r>
            <a:r>
              <a:rPr lang="en-US" dirty="0" err="1"/>
              <a:t>técnico</a:t>
            </a:r>
            <a:r>
              <a:rPr lang="en-US" dirty="0"/>
              <a:t> de forma </a:t>
            </a:r>
            <a:r>
              <a:rPr lang="en-US" dirty="0" err="1"/>
              <a:t>sencilla</a:t>
            </a:r>
            <a:r>
              <a:rPr lang="en-US" dirty="0"/>
              <a:t>, </a:t>
            </a:r>
            <a:r>
              <a:rPr lang="en-US" dirty="0" err="1"/>
              <a:t>indicando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utilizará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un Random Forest, </a:t>
            </a:r>
            <a:r>
              <a:rPr lang="en-US" dirty="0" err="1"/>
              <a:t>una</a:t>
            </a:r>
            <a:r>
              <a:rPr lang="en-US" dirty="0"/>
              <a:t> red neuronal o un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lenguaje</a:t>
            </a:r>
            <a:r>
              <a:rPr lang="en-US" dirty="0"/>
              <a:t> (LLM), </a:t>
            </a:r>
            <a:r>
              <a:rPr lang="en-US" dirty="0" err="1"/>
              <a:t>así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las </a:t>
            </a:r>
            <a:r>
              <a:rPr lang="en-US" dirty="0" err="1"/>
              <a:t>principales</a:t>
            </a:r>
            <a:r>
              <a:rPr lang="en-US" dirty="0"/>
              <a:t> </a:t>
            </a:r>
            <a:r>
              <a:rPr lang="en-US" dirty="0" err="1"/>
              <a:t>fuentes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lo </a:t>
            </a:r>
            <a:r>
              <a:rPr lang="en-US" dirty="0" err="1"/>
              <a:t>alimentarán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bases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internas</a:t>
            </a:r>
            <a:r>
              <a:rPr lang="en-US" dirty="0"/>
              <a:t>, </a:t>
            </a:r>
            <a:r>
              <a:rPr lang="en-US" dirty="0" err="1"/>
              <a:t>históricos</a:t>
            </a:r>
            <a:r>
              <a:rPr lang="en-US" dirty="0"/>
              <a:t> de </a:t>
            </a:r>
            <a:r>
              <a:rPr lang="en-US" dirty="0" err="1"/>
              <a:t>clientes</a:t>
            </a:r>
            <a:r>
              <a:rPr lang="en-US" dirty="0"/>
              <a:t> o </a:t>
            </a:r>
            <a:r>
              <a:rPr lang="en-US" dirty="0" err="1"/>
              <a:t>fuentes</a:t>
            </a:r>
            <a:r>
              <a:rPr lang="en-US" dirty="0"/>
              <a:t> de Big Data. No es </a:t>
            </a:r>
            <a:r>
              <a:rPr lang="en-US" dirty="0" err="1"/>
              <a:t>necesario</a:t>
            </a:r>
            <a:r>
              <a:rPr lang="en-US" dirty="0"/>
              <a:t> </a:t>
            </a:r>
            <a:r>
              <a:rPr lang="en-US" dirty="0" err="1"/>
              <a:t>entrar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complejos</a:t>
            </a:r>
            <a:r>
              <a:rPr lang="en-US" dirty="0"/>
              <a:t>, </a:t>
            </a:r>
            <a:r>
              <a:rPr lang="en-US" dirty="0" err="1"/>
              <a:t>sino</a:t>
            </a:r>
            <a:r>
              <a:rPr lang="en-US" dirty="0"/>
              <a:t> </a:t>
            </a:r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y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es </a:t>
            </a:r>
            <a:r>
              <a:rPr lang="en-US" dirty="0" err="1"/>
              <a:t>adecuado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. En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lugar</a:t>
            </a:r>
            <a:r>
              <a:rPr lang="en-US" dirty="0"/>
              <a:t>, se define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, </a:t>
            </a:r>
            <a:r>
              <a:rPr lang="en-US" dirty="0" err="1"/>
              <a:t>describiendo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flujo</a:t>
            </a:r>
            <a:r>
              <a:rPr lang="en-US" dirty="0"/>
              <a:t> de </a:t>
            </a:r>
            <a:r>
              <a:rPr lang="en-US" dirty="0" err="1"/>
              <a:t>trabajo</a:t>
            </a:r>
            <a:r>
              <a:rPr lang="en-US" dirty="0"/>
              <a:t> </a:t>
            </a:r>
            <a:r>
              <a:rPr lang="en-US" dirty="0" err="1"/>
              <a:t>completo</a:t>
            </a:r>
            <a:r>
              <a:rPr lang="en-US" dirty="0"/>
              <a:t>: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se integra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proceso</a:t>
            </a:r>
            <a:r>
              <a:rPr lang="en-US" dirty="0"/>
              <a:t> actual,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punto </a:t>
            </a:r>
            <a:r>
              <a:rPr lang="en-US" dirty="0" err="1"/>
              <a:t>interviene</a:t>
            </a:r>
            <a:r>
              <a:rPr lang="en-US" dirty="0"/>
              <a:t> la IA y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decisiones</a:t>
            </a:r>
            <a:r>
              <a:rPr lang="en-US" dirty="0"/>
              <a:t> o </a:t>
            </a:r>
            <a:r>
              <a:rPr lang="en-US" dirty="0" err="1"/>
              <a:t>acciones</a:t>
            </a:r>
            <a:r>
              <a:rPr lang="en-US" dirty="0"/>
              <a:t> </a:t>
            </a:r>
            <a:r>
              <a:rPr lang="en-US" dirty="0" err="1"/>
              <a:t>automatiza</a:t>
            </a:r>
            <a:r>
              <a:rPr lang="en-US" dirty="0"/>
              <a:t> o </a:t>
            </a:r>
            <a:r>
              <a:rPr lang="en-US" dirty="0" err="1"/>
              <a:t>apoya</a:t>
            </a:r>
            <a:r>
              <a:rPr lang="en-US" dirty="0"/>
              <a:t>. Por </a:t>
            </a:r>
            <a:r>
              <a:rPr lang="en-US" dirty="0" err="1"/>
              <a:t>último</a:t>
            </a:r>
            <a:r>
              <a:rPr lang="en-US" dirty="0"/>
              <a:t>, se </a:t>
            </a:r>
            <a:r>
              <a:rPr lang="en-US" dirty="0" err="1"/>
              <a:t>identifican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 clave, </a:t>
            </a:r>
            <a:r>
              <a:rPr lang="en-US" dirty="0" err="1"/>
              <a:t>diferenciando</a:t>
            </a:r>
            <a:r>
              <a:rPr lang="en-US" dirty="0"/>
              <a:t> entre </a:t>
            </a:r>
            <a:r>
              <a:rPr lang="en-US" dirty="0" err="1"/>
              <a:t>quienes</a:t>
            </a:r>
            <a:r>
              <a:rPr lang="en-US" dirty="0"/>
              <a:t> </a:t>
            </a:r>
            <a:r>
              <a:rPr lang="en-US" dirty="0" err="1"/>
              <a:t>utilizarán</a:t>
            </a:r>
            <a:r>
              <a:rPr lang="en-US" dirty="0"/>
              <a:t> </a:t>
            </a:r>
            <a:r>
              <a:rPr lang="en-US" dirty="0" err="1"/>
              <a:t>directamente</a:t>
            </a:r>
            <a:r>
              <a:rPr lang="en-US" dirty="0"/>
              <a:t> la </a:t>
            </a:r>
            <a:r>
              <a:rPr lang="en-US" dirty="0" err="1"/>
              <a:t>herramienta</a:t>
            </a:r>
            <a:r>
              <a:rPr lang="en-US" dirty="0"/>
              <a:t> (</a:t>
            </a:r>
            <a:r>
              <a:rPr lang="en-US" dirty="0" err="1"/>
              <a:t>empleados</a:t>
            </a:r>
            <a:r>
              <a:rPr lang="en-US" dirty="0"/>
              <a:t>, </a:t>
            </a:r>
            <a:r>
              <a:rPr lang="en-US" dirty="0" err="1"/>
              <a:t>analistas</a:t>
            </a:r>
            <a:r>
              <a:rPr lang="en-US" dirty="0"/>
              <a:t>, managers)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beneficiarios</a:t>
            </a:r>
            <a:r>
              <a:rPr lang="en-US" dirty="0"/>
              <a:t> finales,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o </a:t>
            </a:r>
            <a:r>
              <a:rPr lang="en-US" dirty="0" err="1"/>
              <a:t>áreas</a:t>
            </a:r>
            <a:r>
              <a:rPr lang="en-US" dirty="0"/>
              <a:t> de </a:t>
            </a:r>
            <a:r>
              <a:rPr lang="en-US" dirty="0" err="1"/>
              <a:t>negocio</a:t>
            </a:r>
            <a:r>
              <a:rPr lang="en-US" dirty="0"/>
              <a:t>, </a:t>
            </a:r>
            <a:r>
              <a:rPr lang="en-US" dirty="0" err="1"/>
              <a:t>reforzando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valor transversal de la </a:t>
            </a:r>
            <a:r>
              <a:rPr lang="en-US" dirty="0" err="1"/>
              <a:t>solución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52AF0-AE2E-4894-BF0D-9955FA841287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59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La </a:t>
            </a:r>
            <a:r>
              <a:rPr lang="en-US" dirty="0" err="1"/>
              <a:t>proyección</a:t>
            </a:r>
            <a:r>
              <a:rPr lang="en-US" dirty="0"/>
              <a:t> de </a:t>
            </a:r>
            <a:r>
              <a:rPr lang="en-US" dirty="0" err="1"/>
              <a:t>impacto</a:t>
            </a:r>
            <a:r>
              <a:rPr lang="en-US" dirty="0"/>
              <a:t> </a:t>
            </a:r>
            <a:r>
              <a:rPr lang="en-US" dirty="0" err="1"/>
              <a:t>económico</a:t>
            </a:r>
            <a:r>
              <a:rPr lang="en-US" dirty="0"/>
              <a:t> </a:t>
            </a:r>
            <a:r>
              <a:rPr lang="en-US" dirty="0" err="1"/>
              <a:t>demuestra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rigor del 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financiero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la </a:t>
            </a:r>
            <a:r>
              <a:rPr lang="en-US" dirty="0" err="1"/>
              <a:t>comparación</a:t>
            </a:r>
            <a:r>
              <a:rPr lang="en-US" dirty="0"/>
              <a:t> de </a:t>
            </a:r>
            <a:r>
              <a:rPr lang="en-US" dirty="0" err="1"/>
              <a:t>distintos</a:t>
            </a:r>
            <a:r>
              <a:rPr lang="en-US" dirty="0"/>
              <a:t> </a:t>
            </a:r>
            <a:r>
              <a:rPr lang="en-US" dirty="0" err="1"/>
              <a:t>escenarios</a:t>
            </a:r>
            <a:r>
              <a:rPr lang="en-US" dirty="0"/>
              <a:t>. En </a:t>
            </a:r>
            <a:r>
              <a:rPr lang="en-US" dirty="0" err="1"/>
              <a:t>lugar</a:t>
            </a:r>
            <a:r>
              <a:rPr lang="en-US" dirty="0"/>
              <a:t> de </a:t>
            </a:r>
            <a:r>
              <a:rPr lang="en-US" dirty="0" err="1"/>
              <a:t>presentar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única</a:t>
            </a:r>
            <a:r>
              <a:rPr lang="en-US" dirty="0"/>
              <a:t> </a:t>
            </a:r>
            <a:r>
              <a:rPr lang="en-US" dirty="0" err="1"/>
              <a:t>cifra</a:t>
            </a:r>
            <a:r>
              <a:rPr lang="en-US" dirty="0"/>
              <a:t>, se </a:t>
            </a:r>
            <a:r>
              <a:rPr lang="en-US" dirty="0" err="1"/>
              <a:t>plantean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escenarios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reflejan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niveles</a:t>
            </a:r>
            <a:r>
              <a:rPr lang="en-US" dirty="0"/>
              <a:t> de </a:t>
            </a:r>
            <a:r>
              <a:rPr lang="en-US" dirty="0" err="1"/>
              <a:t>adopción</a:t>
            </a:r>
            <a:r>
              <a:rPr lang="en-US" dirty="0"/>
              <a:t> y </a:t>
            </a:r>
            <a:r>
              <a:rPr lang="en-US" dirty="0" err="1"/>
              <a:t>rendimiento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. El </a:t>
            </a:r>
            <a:r>
              <a:rPr lang="en-US" dirty="0" err="1"/>
              <a:t>escenario</a:t>
            </a:r>
            <a:r>
              <a:rPr lang="en-US" dirty="0"/>
              <a:t> </a:t>
            </a:r>
            <a:r>
              <a:rPr lang="en-US" dirty="0" err="1"/>
              <a:t>conservador</a:t>
            </a:r>
            <a:r>
              <a:rPr lang="en-US" dirty="0"/>
              <a:t> </a:t>
            </a:r>
            <a:r>
              <a:rPr lang="en-US" dirty="0" err="1"/>
              <a:t>asume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adopción</a:t>
            </a:r>
            <a:r>
              <a:rPr lang="en-US" dirty="0"/>
              <a:t> baja o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mejora</a:t>
            </a:r>
            <a:r>
              <a:rPr lang="en-US" dirty="0"/>
              <a:t> </a:t>
            </a:r>
            <a:r>
              <a:rPr lang="en-US" dirty="0" err="1"/>
              <a:t>mínima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mostrando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impacto</a:t>
            </a:r>
            <a:r>
              <a:rPr lang="en-US" dirty="0"/>
              <a:t> </a:t>
            </a:r>
            <a:r>
              <a:rPr lang="en-US" dirty="0" err="1"/>
              <a:t>económico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situación</a:t>
            </a:r>
            <a:r>
              <a:rPr lang="en-US" dirty="0"/>
              <a:t> </a:t>
            </a:r>
            <a:r>
              <a:rPr lang="en-US" dirty="0" err="1"/>
              <a:t>prudente</a:t>
            </a:r>
            <a:r>
              <a:rPr lang="en-US" dirty="0"/>
              <a:t>. El </a:t>
            </a:r>
            <a:r>
              <a:rPr lang="en-US" dirty="0" err="1"/>
              <a:t>escenario</a:t>
            </a:r>
            <a:r>
              <a:rPr lang="en-US" dirty="0"/>
              <a:t> </a:t>
            </a:r>
            <a:r>
              <a:rPr lang="en-US" dirty="0" err="1"/>
              <a:t>realista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la </a:t>
            </a:r>
            <a:r>
              <a:rPr lang="en-US" dirty="0" err="1"/>
              <a:t>adopción</a:t>
            </a:r>
            <a:r>
              <a:rPr lang="en-US" dirty="0"/>
              <a:t> </a:t>
            </a:r>
            <a:r>
              <a:rPr lang="en-US" dirty="0" err="1"/>
              <a:t>esperada</a:t>
            </a:r>
            <a:r>
              <a:rPr lang="en-US" dirty="0"/>
              <a:t> y un </a:t>
            </a:r>
            <a:r>
              <a:rPr lang="en-US" dirty="0" err="1"/>
              <a:t>rendimiento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del </a:t>
            </a:r>
            <a:r>
              <a:rPr lang="en-US" dirty="0" err="1"/>
              <a:t>modelo</a:t>
            </a:r>
            <a:r>
              <a:rPr lang="en-US" dirty="0"/>
              <a:t>, </a:t>
            </a:r>
            <a:r>
              <a:rPr lang="en-US" dirty="0" err="1"/>
              <a:t>siendo</a:t>
            </a:r>
            <a:r>
              <a:rPr lang="en-US" dirty="0"/>
              <a:t> la </a:t>
            </a:r>
            <a:r>
              <a:rPr lang="en-US" dirty="0" err="1"/>
              <a:t>referencia</a:t>
            </a:r>
            <a:r>
              <a:rPr lang="en-US" dirty="0"/>
              <a:t> principal para la </a:t>
            </a:r>
            <a:r>
              <a:rPr lang="en-US" dirty="0" err="1"/>
              <a:t>toma</a:t>
            </a:r>
            <a:r>
              <a:rPr lang="en-US" dirty="0"/>
              <a:t> de </a:t>
            </a:r>
            <a:r>
              <a:rPr lang="en-US" dirty="0" err="1"/>
              <a:t>decisiones</a:t>
            </a:r>
            <a:r>
              <a:rPr lang="en-US" dirty="0"/>
              <a:t>. El </a:t>
            </a:r>
            <a:r>
              <a:rPr lang="en-US" dirty="0" err="1"/>
              <a:t>escenario</a:t>
            </a:r>
            <a:r>
              <a:rPr lang="en-US" dirty="0"/>
              <a:t> </a:t>
            </a:r>
            <a:r>
              <a:rPr lang="en-US" dirty="0" err="1"/>
              <a:t>optimista</a:t>
            </a:r>
            <a:r>
              <a:rPr lang="en-US" dirty="0"/>
              <a:t> </a:t>
            </a:r>
            <a:r>
              <a:rPr lang="en-US" dirty="0" err="1"/>
              <a:t>contempla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adopción</a:t>
            </a:r>
            <a:r>
              <a:rPr lang="en-US" dirty="0"/>
              <a:t> total y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precisión</a:t>
            </a:r>
            <a:r>
              <a:rPr lang="en-US" dirty="0"/>
              <a:t> de la IA, </a:t>
            </a:r>
            <a:r>
              <a:rPr lang="en-US" dirty="0" err="1"/>
              <a:t>maximizando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beneficios</a:t>
            </a:r>
            <a:r>
              <a:rPr lang="en-US" dirty="0"/>
              <a:t>. Esta </a:t>
            </a:r>
            <a:r>
              <a:rPr lang="en-US" dirty="0" err="1"/>
              <a:t>aproximación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a la </a:t>
            </a:r>
            <a:r>
              <a:rPr lang="en-US" dirty="0" err="1"/>
              <a:t>dirección</a:t>
            </a:r>
            <a:r>
              <a:rPr lang="en-US" dirty="0"/>
              <a:t> </a:t>
            </a:r>
            <a:r>
              <a:rPr lang="en-US" dirty="0" err="1"/>
              <a:t>entender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rango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posibles</a:t>
            </a:r>
            <a:r>
              <a:rPr lang="en-US" dirty="0"/>
              <a:t>, </a:t>
            </a:r>
            <a:r>
              <a:rPr lang="en-US" dirty="0" err="1"/>
              <a:t>gestionar</a:t>
            </a:r>
            <a:r>
              <a:rPr lang="en-US" dirty="0"/>
              <a:t> </a:t>
            </a:r>
            <a:r>
              <a:rPr lang="en-US" dirty="0" err="1"/>
              <a:t>expectativas</a:t>
            </a:r>
            <a:r>
              <a:rPr lang="en-US" dirty="0"/>
              <a:t> y </a:t>
            </a:r>
            <a:r>
              <a:rPr lang="en-US" dirty="0" err="1"/>
              <a:t>reducir</a:t>
            </a:r>
            <a:r>
              <a:rPr lang="en-US" dirty="0"/>
              <a:t> la </a:t>
            </a:r>
            <a:r>
              <a:rPr lang="en-US" dirty="0" err="1"/>
              <a:t>percepción</a:t>
            </a:r>
            <a:r>
              <a:rPr lang="en-US" dirty="0"/>
              <a:t> de </a:t>
            </a:r>
            <a:r>
              <a:rPr lang="en-US" dirty="0" err="1"/>
              <a:t>riesgo</a:t>
            </a:r>
            <a:r>
              <a:rPr lang="en-US" dirty="0"/>
              <a:t>. </a:t>
            </a:r>
            <a:r>
              <a:rPr lang="en-US" dirty="0" err="1"/>
              <a:t>Visualmente</a:t>
            </a:r>
            <a:r>
              <a:rPr lang="en-US" dirty="0"/>
              <a:t>, es </a:t>
            </a:r>
            <a:r>
              <a:rPr lang="en-US" dirty="0" err="1"/>
              <a:t>recomendable</a:t>
            </a:r>
            <a:r>
              <a:rPr lang="en-US" dirty="0"/>
              <a:t> usar </a:t>
            </a:r>
            <a:r>
              <a:rPr lang="en-US" dirty="0" err="1"/>
              <a:t>gráficos</a:t>
            </a:r>
            <a:r>
              <a:rPr lang="en-US" dirty="0"/>
              <a:t> de barras o </a:t>
            </a:r>
            <a:r>
              <a:rPr lang="en-US" dirty="0" err="1"/>
              <a:t>tablas</a:t>
            </a:r>
            <a:r>
              <a:rPr lang="en-US" dirty="0"/>
              <a:t> simples para </a:t>
            </a:r>
            <a:r>
              <a:rPr lang="en-US" dirty="0" err="1"/>
              <a:t>comparar</a:t>
            </a:r>
            <a:r>
              <a:rPr lang="en-US" dirty="0"/>
              <a:t> </a:t>
            </a:r>
            <a:r>
              <a:rPr lang="en-US" dirty="0" err="1"/>
              <a:t>rápidamente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escenarios</a:t>
            </a:r>
            <a:r>
              <a:rPr lang="en-US" dirty="0"/>
              <a:t> y </a:t>
            </a:r>
            <a:r>
              <a:rPr lang="en-US" dirty="0" err="1"/>
              <a:t>reforzar</a:t>
            </a:r>
            <a:r>
              <a:rPr lang="en-US" dirty="0"/>
              <a:t> la </a:t>
            </a:r>
            <a:r>
              <a:rPr lang="en-US" dirty="0" err="1"/>
              <a:t>credibilidad</a:t>
            </a:r>
            <a:r>
              <a:rPr lang="en-US" dirty="0"/>
              <a:t> del </a:t>
            </a:r>
            <a:r>
              <a:rPr lang="en-US" dirty="0" err="1"/>
              <a:t>análisis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52AF0-AE2E-4894-BF0D-9955FA841287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22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El análisis de costes y ROI responde a la pregunta clave de la dirección: cuánto cuesta el proyecto y cuánto se gana con él. En primer lugar, se detallan los costes de inversión (CAPEX), que incluyen el desarrollo inicial del modelo, el software, el hardware y posibles servicios de consultoría. En segundo lugar, se presentan los costes de implementación, como la formación de los empleados y la integración con los sistemas existentes. A continuación, se describen los costes operativos (OPEX), que abarcan el mantenimiento, las licencias cloud y la monitorización continua del modelo para evitar problemas como el data drift. Con estos elementos, se calcula el ROI utilizando una fórmula clara y transparente, comparando el beneficio estimado con el coste total. Explicar el cálculo de forma sencilla aumenta la confianza en las cifras y facilita la aprobación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52AF0-AE2E-4894-BF0D-9955FA841287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32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La </a:t>
            </a:r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riesgos</a:t>
            </a:r>
            <a:r>
              <a:rPr lang="en-US" dirty="0"/>
              <a:t> </a:t>
            </a:r>
            <a:r>
              <a:rPr lang="en-US" dirty="0" err="1"/>
              <a:t>demuestra</a:t>
            </a:r>
            <a:r>
              <a:rPr lang="en-US" dirty="0"/>
              <a:t> </a:t>
            </a:r>
            <a:r>
              <a:rPr lang="en-US" dirty="0" err="1"/>
              <a:t>madurez</a:t>
            </a:r>
            <a:r>
              <a:rPr lang="en-US" dirty="0"/>
              <a:t> y </a:t>
            </a:r>
            <a:r>
              <a:rPr lang="en-US" dirty="0" err="1"/>
              <a:t>anticipación</a:t>
            </a:r>
            <a:r>
              <a:rPr lang="en-US" dirty="0"/>
              <a:t>, dos </a:t>
            </a:r>
            <a:r>
              <a:rPr lang="en-US" dirty="0" err="1"/>
              <a:t>aspectos</a:t>
            </a:r>
            <a:r>
              <a:rPr lang="en-US" dirty="0"/>
              <a:t> clave para </a:t>
            </a:r>
            <a:r>
              <a:rPr lang="en-US" dirty="0" err="1"/>
              <a:t>generar</a:t>
            </a:r>
            <a:r>
              <a:rPr lang="en-US" dirty="0"/>
              <a:t> confianza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dirección</a:t>
            </a:r>
            <a:r>
              <a:rPr lang="en-US" dirty="0"/>
              <a:t>. Los </a:t>
            </a:r>
            <a:r>
              <a:rPr lang="en-US" dirty="0" err="1"/>
              <a:t>riesgos</a:t>
            </a:r>
            <a:r>
              <a:rPr lang="en-US" dirty="0"/>
              <a:t> </a:t>
            </a:r>
            <a:r>
              <a:rPr lang="en-US" dirty="0" err="1"/>
              <a:t>técnicos</a:t>
            </a:r>
            <a:r>
              <a:rPr lang="en-US" dirty="0"/>
              <a:t> </a:t>
            </a:r>
            <a:r>
              <a:rPr lang="en-US" dirty="0" err="1"/>
              <a:t>incluyen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de </a:t>
            </a:r>
            <a:r>
              <a:rPr lang="en-US" dirty="0" err="1"/>
              <a:t>calidad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falta</a:t>
            </a:r>
            <a:r>
              <a:rPr lang="en-US" dirty="0"/>
              <a:t> de </a:t>
            </a:r>
            <a:r>
              <a:rPr lang="en-US" dirty="0" err="1"/>
              <a:t>infraestructura</a:t>
            </a:r>
            <a:r>
              <a:rPr lang="en-US" dirty="0"/>
              <a:t> </a:t>
            </a:r>
            <a:r>
              <a:rPr lang="en-US" dirty="0" err="1"/>
              <a:t>adecuada</a:t>
            </a:r>
            <a:r>
              <a:rPr lang="en-US" dirty="0"/>
              <a:t> o </a:t>
            </a:r>
            <a:r>
              <a:rPr lang="en-US" dirty="0" err="1"/>
              <a:t>sesgos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puedan</a:t>
            </a:r>
            <a:r>
              <a:rPr lang="en-US" dirty="0"/>
              <a:t> </a:t>
            </a:r>
            <a:r>
              <a:rPr lang="en-US" dirty="0" err="1"/>
              <a:t>afectar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. Los </a:t>
            </a:r>
            <a:r>
              <a:rPr lang="en-US" dirty="0" err="1"/>
              <a:t>riesgos</a:t>
            </a:r>
            <a:r>
              <a:rPr lang="en-US" dirty="0"/>
              <a:t> </a:t>
            </a:r>
            <a:r>
              <a:rPr lang="en-US" dirty="0" err="1"/>
              <a:t>organizativos</a:t>
            </a:r>
            <a:r>
              <a:rPr lang="en-US" dirty="0"/>
              <a:t> se </a:t>
            </a:r>
            <a:r>
              <a:rPr lang="en-US" dirty="0" err="1"/>
              <a:t>centran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resistencia</a:t>
            </a:r>
            <a:r>
              <a:rPr lang="en-US" dirty="0"/>
              <a:t> al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empleados</a:t>
            </a:r>
            <a:r>
              <a:rPr lang="en-US" dirty="0"/>
              <a:t>, la </a:t>
            </a:r>
            <a:r>
              <a:rPr lang="en-US" dirty="0" err="1"/>
              <a:t>falta</a:t>
            </a:r>
            <a:r>
              <a:rPr lang="en-US" dirty="0"/>
              <a:t> de </a:t>
            </a:r>
            <a:r>
              <a:rPr lang="en-US" dirty="0" err="1"/>
              <a:t>adopción</a:t>
            </a:r>
            <a:r>
              <a:rPr lang="en-US" dirty="0"/>
              <a:t> de la </a:t>
            </a:r>
            <a:r>
              <a:rPr lang="en-US" dirty="0" err="1"/>
              <a:t>herramienta</a:t>
            </a:r>
            <a:r>
              <a:rPr lang="en-US" dirty="0"/>
              <a:t> o la </a:t>
            </a:r>
            <a:r>
              <a:rPr lang="en-US" dirty="0" err="1"/>
              <a:t>escasez</a:t>
            </a:r>
            <a:r>
              <a:rPr lang="en-US" dirty="0"/>
              <a:t> de </a:t>
            </a:r>
            <a:r>
              <a:rPr lang="en-US" dirty="0" err="1"/>
              <a:t>talento</a:t>
            </a:r>
            <a:r>
              <a:rPr lang="en-US" dirty="0"/>
              <a:t> </a:t>
            </a:r>
            <a:r>
              <a:rPr lang="en-US" dirty="0" err="1"/>
              <a:t>especializado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IA. Por </a:t>
            </a:r>
            <a:r>
              <a:rPr lang="en-US" dirty="0" err="1"/>
              <a:t>último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riesgos</a:t>
            </a:r>
            <a:r>
              <a:rPr lang="en-US" dirty="0"/>
              <a:t> </a:t>
            </a:r>
            <a:r>
              <a:rPr lang="en-US" dirty="0" err="1"/>
              <a:t>legales</a:t>
            </a:r>
            <a:r>
              <a:rPr lang="en-US" dirty="0"/>
              <a:t> y </a:t>
            </a:r>
            <a:r>
              <a:rPr lang="en-US" dirty="0" err="1"/>
              <a:t>éticos</a:t>
            </a:r>
            <a:r>
              <a:rPr lang="en-US" dirty="0"/>
              <a:t> </a:t>
            </a:r>
            <a:r>
              <a:rPr lang="en-US" dirty="0" err="1"/>
              <a:t>abarcan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cumplimiento</a:t>
            </a:r>
            <a:r>
              <a:rPr lang="en-US" dirty="0"/>
              <a:t> del GDPR, la </a:t>
            </a:r>
            <a:r>
              <a:rPr lang="en-US" dirty="0" err="1"/>
              <a:t>protección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personales</a:t>
            </a:r>
            <a:r>
              <a:rPr lang="en-US" dirty="0"/>
              <a:t> y la </a:t>
            </a:r>
            <a:r>
              <a:rPr lang="en-US" dirty="0" err="1"/>
              <a:t>necesidad</a:t>
            </a:r>
            <a:r>
              <a:rPr lang="en-US" dirty="0"/>
              <a:t> de </a:t>
            </a:r>
            <a:r>
              <a:rPr lang="en-US" dirty="0" err="1"/>
              <a:t>transparencia</a:t>
            </a:r>
            <a:r>
              <a:rPr lang="en-US" dirty="0"/>
              <a:t> y </a:t>
            </a:r>
            <a:r>
              <a:rPr lang="en-US" dirty="0" err="1"/>
              <a:t>explicabilidad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.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riesgos</a:t>
            </a:r>
            <a:r>
              <a:rPr lang="en-US" dirty="0"/>
              <a:t> y </a:t>
            </a:r>
            <a:r>
              <a:rPr lang="en-US" dirty="0" err="1"/>
              <a:t>mencionar</a:t>
            </a:r>
            <a:r>
              <a:rPr lang="en-US" dirty="0"/>
              <a:t> </a:t>
            </a:r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medidas</a:t>
            </a:r>
            <a:r>
              <a:rPr lang="en-US" dirty="0"/>
              <a:t> de </a:t>
            </a:r>
            <a:r>
              <a:rPr lang="en-US" dirty="0" err="1"/>
              <a:t>mitigación</a:t>
            </a:r>
            <a:r>
              <a:rPr lang="en-US" dirty="0"/>
              <a:t> </a:t>
            </a:r>
            <a:r>
              <a:rPr lang="en-US" dirty="0" err="1"/>
              <a:t>transmite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proyecto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bajo control y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desafíos</a:t>
            </a:r>
            <a:r>
              <a:rPr lang="en-US" dirty="0"/>
              <a:t> son </a:t>
            </a:r>
            <a:r>
              <a:rPr lang="en-US" dirty="0" err="1"/>
              <a:t>gestionables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52AF0-AE2E-4894-BF0D-9955FA841287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33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El plan de implementación describe el camino desde el desarrollo técnico hasta la puesta en producción del sistema. La Fase 1, Piloto o PoC, se centra en validar la viabilidad técnica en un entorno controlado durante los primeros meses. La Fase 2, Despliegue o MVP, implica el lanzamiento a un grupo reducido de usuarios reales, permitiendo recoger feedback y realizar ajustes. Finalmente, la Fase 3, Escalado, extiende la solución a toda la organización y establece un proceso de mejora continua. Presentar un roadmap claro, con tiempos estimados y objetivos por fase, ayuda a visualizar el progreso del proyecto y refuerza la percepción de control y planificación.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52AF0-AE2E-4894-BF0D-9955FA841287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77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La recomendación final sintetiza todo el análisis en un mensaje claro y accionable. En primer lugar, se resume el valor estratégico del proyecto, destacando cómo la solución de IA contribuye a los objetivos de negocio, mejora la eficiencia y genera impacto económico. A continuación, se presenta una recomendación explícita de decisión, normalmente un “Go” o “No Go”, basada en los datos y el ROI calculado. Por último, se indican los próximos pasos concretos para arrancar el proyecto, como la aprobación del presupuesto, el acceso a los datos necesarios o la creación del equipo de trabajo. Esta diapositiva debe cerrar la presentación con claridad, confianza y orientación a la 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52AF0-AE2E-4894-BF0D-9955FA841287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60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C5DB-E5A1-44BC-B251-EAB732B2724A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4E7F6-48D8-4762-8551-48AFD04B5AAC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FE99-EE8B-4402-8825-01AD31F8C6EB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74FB2-852E-408D-A3A1-8A3FBA47B0BB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C720-6793-4826-8CC4-1C75C074ED48}" type="datetime1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16CA-DB81-4AF7-8481-249A2427DC03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90881-B154-4FF8-A832-465E909594DD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FA1D-C5C5-4BBD-9559-52A9E7F9C37F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B2EDD-E2E7-4D07-BB3A-1C17AC4BA83D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83BC6-D559-4FFF-8B59-0644DF9C561C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5D711-EFC9-40D3-87F4-A68B3E86B38E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52B30-F061-40E1-86C7-6FA1D5276D9F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976C16-6052-4C59-A37D-4CDBF1309D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 descr="Close-up of woman against genes diagram on black background">
            <a:extLst>
              <a:ext uri="{FF2B5EF4-FFF2-40B4-BE49-F238E27FC236}">
                <a16:creationId xmlns:a16="http://schemas.microsoft.com/office/drawing/2014/main" id="{9476ED9C-250D-47A5-92B2-EFC2AA6433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8B7B1B-3380-4336-9CA5-10CC3552A0E9}"/>
              </a:ext>
            </a:extLst>
          </p:cNvPr>
          <p:cNvSpPr txBox="1"/>
          <p:nvPr/>
        </p:nvSpPr>
        <p:spPr>
          <a:xfrm>
            <a:off x="619125" y="1185862"/>
            <a:ext cx="4391025" cy="2087916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0" algn="l">
              <a:buNone/>
            </a:pPr>
            <a:r>
              <a:rPr sz="4800" b="0" cap="all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CASO DE </a:t>
            </a:r>
            <a:r>
              <a:rPr lang="es-ES" sz="4800" b="0" cap="all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negocio de </a:t>
            </a:r>
            <a:r>
              <a:rPr sz="4800" b="0" cap="all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IA</a:t>
            </a:r>
            <a:r>
              <a:rPr dirty="0">
                <a:effectLst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2FF0C-3432-44A3-9AF6-E81A28EBBBE9}"/>
              </a:ext>
            </a:extLst>
          </p:cNvPr>
          <p:cNvSpPr txBox="1"/>
          <p:nvPr/>
        </p:nvSpPr>
        <p:spPr>
          <a:xfrm>
            <a:off x="619125" y="4971008"/>
            <a:ext cx="4391025" cy="89148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0" algn="l">
              <a:buNone/>
            </a:pPr>
            <a:r>
              <a:rPr sz="2700" b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Propuesta de valor y viabilidad</a:t>
            </a:r>
            <a:r>
              <a:rPr>
                <a:effectLst/>
              </a:rPr>
              <a:t> </a:t>
            </a:r>
            <a:endParaRPr lang="en-U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F4DAD36-E2FB-FFE8-9209-7192FBF8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76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392CF7D-F985-B960-1D0D-7640AF965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76B09-2549-CF9B-BAD3-3621CA2C1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33500" y="2095500"/>
            <a:ext cx="9525000" cy="1905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sz="1500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38%</a:t>
            </a:r>
            <a:r>
              <a:rPr dirty="0">
                <a:effectLst/>
              </a:rPr>
              <a:t>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BA33C-CF7E-40F9-B530-97D660955F0F}"/>
              </a:ext>
            </a:extLst>
          </p:cNvPr>
          <p:cNvSpPr txBox="1"/>
          <p:nvPr/>
        </p:nvSpPr>
        <p:spPr>
          <a:xfrm>
            <a:off x="1333500" y="4572000"/>
            <a:ext cx="9525000" cy="8914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algn="ctr">
              <a:buNone/>
            </a:pPr>
            <a:r>
              <a:rPr sz="2700" b="0">
                <a:solidFill>
                  <a:srgbClr val="000000"/>
                </a:solidFill>
                <a:effectLst/>
                <a:latin typeface="Aptos Regular"/>
              </a:rPr>
              <a:t>ROI 1er año estimado con la solución de IA propuesta</a:t>
            </a:r>
            <a:r>
              <a:rPr>
                <a:effectLst/>
              </a:rPr>
              <a:t> </a:t>
            </a:r>
            <a:endParaRPr lang="en-US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6F18AE4E-4690-F101-E51E-863B8DB7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3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71F8DA-CB43-42D3-B555-C144E1D54E4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 descr="Asian female accountant stressed overtime with loose paperwork and holding hands on head Woman worried and stressed with hard work in the office">
            <a:extLst>
              <a:ext uri="{FF2B5EF4-FFF2-40B4-BE49-F238E27FC236}">
                <a16:creationId xmlns:a16="http://schemas.microsoft.com/office/drawing/2014/main" id="{F5DC9FC7-F843-4446-93B1-203DE87D4F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660ABA-D2D0-4E11-BD7C-8D63AC8EF75F}"/>
              </a:ext>
            </a:extLst>
          </p:cNvPr>
          <p:cNvSpPr txBox="1"/>
          <p:nvPr/>
        </p:nvSpPr>
        <p:spPr>
          <a:xfrm>
            <a:off x="619125" y="581025"/>
            <a:ext cx="4391025" cy="33516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0" algn="l">
              <a:buNone/>
            </a:pPr>
            <a:r>
              <a:rPr cap="all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PROBLEMA DE NEGOCIO 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AB288-6670-42E5-9F91-3AC462DC0DA2}"/>
              </a:ext>
            </a:extLst>
          </p:cNvPr>
          <p:cNvSpPr txBox="1"/>
          <p:nvPr/>
        </p:nvSpPr>
        <p:spPr>
          <a:xfrm>
            <a:off x="619125" y="1201935"/>
            <a:ext cx="4391025" cy="214312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marL="0" algn="l">
              <a:buNone/>
            </a:pPr>
            <a:r>
              <a:rPr sz="135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QUÉ FALLA HOY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154F1-EC54-4A2F-96DE-C1DEBECF8158}"/>
              </a:ext>
            </a:extLst>
          </p:cNvPr>
          <p:cNvSpPr txBox="1"/>
          <p:nvPr/>
        </p:nvSpPr>
        <p:spPr>
          <a:xfrm>
            <a:off x="619125" y="1492448"/>
            <a:ext cx="4391025" cy="9257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algn="l">
              <a:spcBef>
                <a:spcPts val="60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 Regular"/>
              </a:rPr>
              <a:t>El proceso es manual y fragmentado: alta de casos, búsqueda de información y re-trabajos entre áreas. Genera demoras, errores y falta de trazabilidad para cumplir los objetivos. 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94179-786A-49C6-9C8B-AF575D158EE6}"/>
              </a:ext>
            </a:extLst>
          </p:cNvPr>
          <p:cNvSpPr txBox="1"/>
          <p:nvPr/>
        </p:nvSpPr>
        <p:spPr>
          <a:xfrm>
            <a:off x="619125" y="2589609"/>
            <a:ext cx="4391025" cy="214312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marL="0" marR="0" algn="l">
              <a:spcBef>
                <a:spcPts val="1350"/>
              </a:spcBef>
              <a:buNone/>
            </a:pPr>
            <a:r>
              <a:rPr sz="1350"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KPIS IMPACTADOS 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2ECDD-16FB-48DA-8221-F5BB12368D3C}"/>
              </a:ext>
            </a:extLst>
          </p:cNvPr>
          <p:cNvSpPr txBox="1"/>
          <p:nvPr/>
        </p:nvSpPr>
        <p:spPr>
          <a:xfrm>
            <a:off x="619125" y="2880121"/>
            <a:ext cx="4391025" cy="694283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0" marR="0" algn="l">
              <a:spcBef>
                <a:spcPts val="60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 Regular"/>
              </a:rPr>
              <a:t>Tiempo de respuesta al cliente, coste por operación, productividad interna, tasa de abandono y satisfacción (NPS/CSAT).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76E485-0089-4B76-83BF-92DE98ACA380}"/>
              </a:ext>
            </a:extLst>
          </p:cNvPr>
          <p:cNvSpPr txBox="1"/>
          <p:nvPr/>
        </p:nvSpPr>
        <p:spPr>
          <a:xfrm>
            <a:off x="619125" y="3745855"/>
            <a:ext cx="4391025" cy="214312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marL="0" marR="0" algn="l">
              <a:spcBef>
                <a:spcPts val="1350"/>
              </a:spcBef>
              <a:buNone/>
            </a:pPr>
            <a:r>
              <a:rPr sz="135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COSTE ACTUAL (€)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791B02-5647-4DFE-A061-BF974CB70B98}"/>
              </a:ext>
            </a:extLst>
          </p:cNvPr>
          <p:cNvSpPr txBox="1"/>
          <p:nvPr/>
        </p:nvSpPr>
        <p:spPr>
          <a:xfrm>
            <a:off x="619125" y="4036367"/>
            <a:ext cx="4391025" cy="9257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algn="l">
              <a:spcBef>
                <a:spcPts val="60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 Regular"/>
              </a:rPr>
              <a:t>Pérdidas por horas improductivas, reprocesos, clientes no atendidos a tiempo y posibles penalizaciones operativas. Cuantificación en € necesaria para priorizar inversión. </a:t>
            </a:r>
            <a:endParaRPr lang="en-U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C563738-2A6F-55CD-E564-A106B414E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53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4B3D3B-8980-48B0-A61B-6AEE8B56C0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C7D8-8EE4-E027-76F5-A53B884D1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125" y="619125"/>
            <a:ext cx="10553700" cy="469255"/>
          </a:xfrm>
        </p:spPr>
        <p:txBody>
          <a:bodyPr>
            <a:normAutofit lnSpcReduction="10000"/>
          </a:bodyPr>
          <a:lstStyle/>
          <a:p>
            <a:pPr marL="0" marR="0" indent="0" algn="l">
              <a:buNone/>
            </a:pPr>
            <a:r>
              <a:rPr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LA SOLUCIÓN TÉCNICA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64DFB-6A34-4F37-A58E-EAC13085A732}"/>
              </a:ext>
            </a:extLst>
          </p:cNvPr>
          <p:cNvSpPr txBox="1"/>
          <p:nvPr/>
        </p:nvSpPr>
        <p:spPr>
          <a:xfrm>
            <a:off x="619125" y="1552575"/>
            <a:ext cx="10553700" cy="411360"/>
          </a:xfrm>
          <a:prstGeom prst="rect">
            <a:avLst/>
          </a:prstGeom>
          <a:noFill/>
        </p:spPr>
        <p:txBody>
          <a:bodyPr wrap="square" rtlCol="0">
            <a:normAutofit fontScale="85000" lnSpcReduction="20000"/>
          </a:bodyPr>
          <a:lstStyle/>
          <a:p>
            <a:pPr marL="0" marR="0" algn="l">
              <a:buNone/>
            </a:pPr>
            <a:r>
              <a:rPr sz="2700" b="1" dirty="0" err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Tecnología</a:t>
            </a:r>
            <a:r>
              <a:rPr sz="270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 de IA </a:t>
            </a:r>
            <a:r>
              <a:rPr sz="2700" b="1" dirty="0" err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enfocada</a:t>
            </a:r>
            <a:r>
              <a:rPr sz="270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 al </a:t>
            </a:r>
            <a:r>
              <a:rPr sz="2700" b="1" dirty="0" err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negocio</a:t>
            </a:r>
            <a:r>
              <a:rPr sz="270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7D55A-F169-42DB-AADF-C57FA59E3C6B}"/>
              </a:ext>
            </a:extLst>
          </p:cNvPr>
          <p:cNvSpPr txBox="1"/>
          <p:nvPr/>
        </p:nvSpPr>
        <p:spPr>
          <a:xfrm>
            <a:off x="619125" y="2352675"/>
            <a:ext cx="10553700" cy="271417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algn="l">
              <a:buNone/>
            </a:pPr>
            <a:r>
              <a:rPr sz="1650" b="1" dirty="0" err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Enfoque</a:t>
            </a:r>
            <a:r>
              <a:rPr sz="165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 </a:t>
            </a:r>
            <a:r>
              <a:rPr sz="1650" b="1" dirty="0" err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técnico</a:t>
            </a:r>
            <a:r>
              <a:rPr sz="165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 </a:t>
            </a:r>
            <a:endParaRPr dirty="0">
              <a:effectLst/>
            </a:endParaRPr>
          </a:p>
          <a:p>
            <a:pPr marL="0" marR="0" algn="l">
              <a:spcBef>
                <a:spcPts val="600"/>
              </a:spcBef>
              <a:buNone/>
            </a:pP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 describe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el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tipo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de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modelo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(p.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ej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., Random Forest, red neuronal o LLM) y las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fuentes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de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datos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(BBDD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internas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históricos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de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cliente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o Big Data),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explicando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qué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hace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y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por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qué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encaja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 </a:t>
            </a:r>
            <a:endParaRPr dirty="0">
              <a:effectLst/>
            </a:endParaRPr>
          </a:p>
          <a:p>
            <a:pPr marL="0" marR="0" algn="l">
              <a:spcBef>
                <a:spcPts val="1350"/>
              </a:spcBef>
              <a:buNone/>
            </a:pPr>
            <a:r>
              <a:rPr sz="165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Caso de </a:t>
            </a:r>
            <a:r>
              <a:rPr sz="1650" b="1" dirty="0" err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uso</a:t>
            </a:r>
            <a:r>
              <a:rPr sz="165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 e </a:t>
            </a:r>
            <a:r>
              <a:rPr sz="1650" b="1" dirty="0" err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integración</a:t>
            </a:r>
            <a:r>
              <a:rPr sz="165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 </a:t>
            </a:r>
            <a:endParaRPr dirty="0">
              <a:effectLst/>
            </a:endParaRPr>
          </a:p>
          <a:p>
            <a:pPr marL="0" marR="0" algn="l">
              <a:spcBef>
                <a:spcPts val="600"/>
              </a:spcBef>
              <a:buNone/>
            </a:pP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detalla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el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flujo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completo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cómo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se integra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el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proceso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actual,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qué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punto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interviene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la IA y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qué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decisiones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o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acciones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automatiza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o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apoya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 </a:t>
            </a:r>
            <a:endParaRPr dirty="0">
              <a:effectLst/>
            </a:endParaRPr>
          </a:p>
          <a:p>
            <a:pPr marL="0" marR="0" algn="l">
              <a:spcBef>
                <a:spcPts val="1350"/>
              </a:spcBef>
              <a:buNone/>
            </a:pPr>
            <a:r>
              <a:rPr sz="1650" b="1" dirty="0" err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Usuarios</a:t>
            </a:r>
            <a:r>
              <a:rPr sz="1650" b="1" dirty="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 clave </a:t>
            </a:r>
            <a:endParaRPr dirty="0">
              <a:effectLst/>
            </a:endParaRPr>
          </a:p>
          <a:p>
            <a:pPr marL="0" marR="0" algn="l">
              <a:spcBef>
                <a:spcPts val="600"/>
              </a:spcBef>
              <a:buNone/>
            </a:pP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diferencian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usuarios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directos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(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empleados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analistas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managers) y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beneficiarios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finales (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clientes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o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áreas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de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negocio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),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reforzando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el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valor transversal de la </a:t>
            </a:r>
            <a:r>
              <a:rPr sz="1350" b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solución</a:t>
            </a:r>
            <a:r>
              <a:rPr sz="135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 </a:t>
            </a:r>
            <a:endParaRPr lang="en-U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89F32EC-BD5B-74BD-FFB9-40219043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43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46084E-D115-4C74-9BF1-3EA7DB6E09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8DCA7F-195F-41D3-BED7-76CADC8C4E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5250" y="1302990"/>
            <a:ext cx="7677150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C7CCE0-67E2-40C3-B871-C8DC69898135}"/>
              </a:ext>
            </a:extLst>
          </p:cNvPr>
          <p:cNvSpPr txBox="1"/>
          <p:nvPr/>
        </p:nvSpPr>
        <p:spPr>
          <a:xfrm>
            <a:off x="609600" y="571500"/>
            <a:ext cx="10972800" cy="502890"/>
          </a:xfrm>
          <a:prstGeom prst="rect">
            <a:avLst/>
          </a:prstGeom>
          <a:noFill/>
        </p:spPr>
        <p:txBody>
          <a:bodyPr wrap="square" rtlCol="0">
            <a:normAutofit fontScale="85000" lnSpcReduction="20000"/>
          </a:bodyPr>
          <a:lstStyle/>
          <a:p>
            <a:pPr marL="0" algn="l">
              <a:buNone/>
            </a:pPr>
            <a:r>
              <a:rPr sz="3600" b="1" cap="all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PROYECCIÓN DE IMPACTO 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ECE51A-12E2-4338-A980-125DB6165631}"/>
              </a:ext>
            </a:extLst>
          </p:cNvPr>
          <p:cNvSpPr txBox="1"/>
          <p:nvPr/>
        </p:nvSpPr>
        <p:spPr>
          <a:xfrm>
            <a:off x="609600" y="1302990"/>
            <a:ext cx="2990850" cy="210294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algn="l">
              <a:spcAft>
                <a:spcPts val="450"/>
              </a:spcAft>
              <a:buNone/>
            </a:pPr>
            <a:r>
              <a:rPr sz="1350" b="1">
                <a:solidFill>
                  <a:srgbClr val="000000"/>
                </a:solidFill>
                <a:effectLst/>
                <a:latin typeface="Aptos Regular"/>
              </a:rPr>
              <a:t>Comparación por escenarios </a:t>
            </a:r>
            <a:endParaRPr>
              <a:effectLst/>
            </a:endParaRPr>
          </a:p>
          <a:p>
            <a:pPr marL="0" marR="0" algn="l">
              <a:spcAft>
                <a:spcPts val="1350"/>
              </a:spcAft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 Regular"/>
              </a:rPr>
              <a:t>Tres niveles (conservador, realista, optimista) reflejan distintos grados de adopción y rendimiento del modelo. </a:t>
            </a:r>
            <a:endParaRPr>
              <a:effectLst/>
            </a:endParaRPr>
          </a:p>
          <a:p>
            <a:pPr marL="0" marR="0" algn="l">
              <a:spcAft>
                <a:spcPts val="450"/>
              </a:spcAft>
              <a:buNone/>
            </a:pPr>
            <a:r>
              <a:rPr sz="1350" b="1">
                <a:solidFill>
                  <a:srgbClr val="000000"/>
                </a:solidFill>
                <a:effectLst/>
                <a:latin typeface="Aptos Regular"/>
              </a:rPr>
              <a:t>Lectura para decisión </a:t>
            </a:r>
            <a:endParaRPr>
              <a:effectLst/>
            </a:endParaRPr>
          </a:p>
          <a:p>
            <a:pPr marL="0" marR="0" algn="l"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 Regular"/>
              </a:rPr>
              <a:t>Define un rango esperado, gestiona expectativas y reduce la percepción de riesgo con evidencia comparable. </a:t>
            </a:r>
            <a:endParaRPr lang="en-U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3F80766-7508-70B7-6B78-39CE64DC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9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0EA07F-0097-466C-AA81-1FFA2527D3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E02AF-53DC-9A5E-DB7B-EA8DB0801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125" y="542925"/>
            <a:ext cx="12172950" cy="958155"/>
          </a:xfrm>
        </p:spPr>
        <p:txBody>
          <a:bodyPr>
            <a:normAutofit lnSpcReduction="10000"/>
          </a:bodyPr>
          <a:lstStyle/>
          <a:p>
            <a:pPr marL="0" marR="0" algn="l">
              <a:buNone/>
            </a:pPr>
            <a:r>
              <a:rPr b="1" cap="all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ANÁLISIS DE COSTES Y ROI</a:t>
            </a:r>
            <a:r>
              <a:rPr>
                <a:effectLst/>
              </a:rPr>
              <a:t> </a:t>
            </a:r>
          </a:p>
          <a:p>
            <a:pPr marL="0" marR="0" algn="l">
              <a:spcBef>
                <a:spcPts val="750"/>
              </a:spcBef>
              <a:buNone/>
            </a:pPr>
            <a:r>
              <a:rPr sz="2700"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Cómo estimar inversión y retorno</a:t>
            </a:r>
            <a:r>
              <a:rPr>
                <a:effectLst/>
              </a:rPr>
              <a:t>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FA2484-4BDD-4F8A-B347-8082F0837435}"/>
              </a:ext>
            </a:extLst>
          </p:cNvPr>
          <p:cNvSpPr txBox="1"/>
          <p:nvPr/>
        </p:nvSpPr>
        <p:spPr>
          <a:xfrm>
            <a:off x="619125" y="1990725"/>
            <a:ext cx="12172950" cy="1279921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marL="0" marR="0" algn="l">
              <a:buNone/>
            </a:pPr>
            <a:r>
              <a:rPr sz="1350" b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CAPEX (inversión):</a:t>
            </a:r>
            <a:r>
              <a:rPr sz="135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desarrollo inicial del modelo, software, hardware y consultoría.</a:t>
            </a:r>
            <a:r>
              <a:rPr>
                <a:effectLst/>
              </a:rPr>
              <a:t> </a:t>
            </a:r>
          </a:p>
          <a:p>
            <a:pPr marL="0" marR="0" algn="l">
              <a:spcBef>
                <a:spcPts val="750"/>
              </a:spcBef>
              <a:buNone/>
            </a:pPr>
            <a:r>
              <a:rPr sz="1350" b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Implementación:</a:t>
            </a:r>
            <a:r>
              <a:rPr sz="135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formación de empleados e integración con sistemas existentes.</a:t>
            </a:r>
            <a:r>
              <a:rPr>
                <a:effectLst/>
              </a:rPr>
              <a:t> </a:t>
            </a:r>
          </a:p>
          <a:p>
            <a:pPr marL="0" marR="0" algn="l">
              <a:spcBef>
                <a:spcPts val="750"/>
              </a:spcBef>
              <a:buNone/>
            </a:pPr>
            <a:r>
              <a:rPr sz="1350" b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OPEX (operación):</a:t>
            </a:r>
            <a:r>
              <a:rPr sz="135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mantenimiento, licencias cloud y monitorización continua (p. ej., data drift).</a:t>
            </a:r>
            <a:r>
              <a:rPr>
                <a:effectLst/>
              </a:rPr>
              <a:t> </a:t>
            </a:r>
          </a:p>
          <a:p>
            <a:pPr marL="0" marR="0" algn="l">
              <a:spcBef>
                <a:spcPts val="750"/>
              </a:spcBef>
              <a:buNone/>
            </a:pPr>
            <a:r>
              <a:rPr sz="1350" b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ROI:</a:t>
            </a:r>
            <a:r>
              <a:rPr sz="135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(beneficio estimado − coste total) ÷ coste total; explicarlo simple mejora la confianza y acelera la aprobación.</a:t>
            </a:r>
            <a:r>
              <a:rPr>
                <a:effectLst/>
              </a:rPr>
              <a:t> </a:t>
            </a:r>
            <a:endParaRPr lang="en-U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953E28F-4F7B-2E53-456A-D98BAA82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03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F61D6A-7F24-49BF-B23C-6CE47ED8F6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 descr="Business People Meeting Research finance report by laptop. management strategy analysis financial accounting concept.">
            <a:extLst>
              <a:ext uri="{FF2B5EF4-FFF2-40B4-BE49-F238E27FC236}">
                <a16:creationId xmlns:a16="http://schemas.microsoft.com/office/drawing/2014/main" id="{B412F8DE-B1D8-4139-AF5C-B1EE23C50C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FF9548-8DD0-4527-A1B8-6CE99503904E}"/>
              </a:ext>
            </a:extLst>
          </p:cNvPr>
          <p:cNvSpPr txBox="1"/>
          <p:nvPr/>
        </p:nvSpPr>
        <p:spPr>
          <a:xfrm>
            <a:off x="619125" y="581025"/>
            <a:ext cx="4391025" cy="33516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0" algn="l">
              <a:buNone/>
            </a:pPr>
            <a:r>
              <a:rPr b="1" cap="all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GESTIÓN DE RIESGOS 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A2D01-0AE8-4893-AE52-F9F2BFEA5263}"/>
              </a:ext>
            </a:extLst>
          </p:cNvPr>
          <p:cNvSpPr txBox="1"/>
          <p:nvPr/>
        </p:nvSpPr>
        <p:spPr>
          <a:xfrm>
            <a:off x="619125" y="1259085"/>
            <a:ext cx="4391025" cy="214312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marL="0" algn="l">
              <a:buNone/>
            </a:pPr>
            <a:r>
              <a:rPr sz="1350"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RIESGOS TÉCNICOS 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429A8-53F2-4404-8615-84B293485930}"/>
              </a:ext>
            </a:extLst>
          </p:cNvPr>
          <p:cNvSpPr txBox="1"/>
          <p:nvPr/>
        </p:nvSpPr>
        <p:spPr>
          <a:xfrm>
            <a:off x="619125" y="1568648"/>
            <a:ext cx="4391025" cy="642937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marL="0" marR="0" algn="l">
              <a:spcBef>
                <a:spcPts val="75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Calidad de datos, infraestructura insuficiente y sesgos del modelo; mitigar con validación, MLOps y monitoreo continuo. 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F0D8E3-E1EC-4308-B932-1B9E062E5CFF}"/>
              </a:ext>
            </a:extLst>
          </p:cNvPr>
          <p:cNvSpPr txBox="1"/>
          <p:nvPr/>
        </p:nvSpPr>
        <p:spPr>
          <a:xfrm>
            <a:off x="619125" y="2344935"/>
            <a:ext cx="4391025" cy="214312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marL="0" marR="0" algn="l">
              <a:spcBef>
                <a:spcPts val="1050"/>
              </a:spcBef>
              <a:buNone/>
            </a:pPr>
            <a:r>
              <a:rPr sz="1350"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RIESGOS ORGANIZATIVOS 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2563A-C63F-46AC-8E17-F9BB5EB36407}"/>
              </a:ext>
            </a:extLst>
          </p:cNvPr>
          <p:cNvSpPr txBox="1"/>
          <p:nvPr/>
        </p:nvSpPr>
        <p:spPr>
          <a:xfrm>
            <a:off x="619125" y="2654498"/>
            <a:ext cx="4391025" cy="428625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0" marR="0" algn="l">
              <a:spcBef>
                <a:spcPts val="75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Resistencia al cambio, baja adopción y falta de talento; mitigar con formación, sponsors y plan de cambio.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913F0A-5B2C-4928-926D-414BA83E9C1A}"/>
              </a:ext>
            </a:extLst>
          </p:cNvPr>
          <p:cNvSpPr txBox="1"/>
          <p:nvPr/>
        </p:nvSpPr>
        <p:spPr>
          <a:xfrm>
            <a:off x="619125" y="3216473"/>
            <a:ext cx="4391025" cy="214312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marL="0" marR="0" algn="l">
              <a:spcBef>
                <a:spcPts val="1050"/>
              </a:spcBef>
              <a:buNone/>
            </a:pPr>
            <a:r>
              <a:rPr sz="1350"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RIESGOS LEGALES Y ÉTICOS 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CDC02-E926-4FBD-8586-15CCDA3D1038}"/>
              </a:ext>
            </a:extLst>
          </p:cNvPr>
          <p:cNvSpPr txBox="1"/>
          <p:nvPr/>
        </p:nvSpPr>
        <p:spPr>
          <a:xfrm>
            <a:off x="619125" y="3526035"/>
            <a:ext cx="4391025" cy="428625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0" marR="0" algn="l">
              <a:spcBef>
                <a:spcPts val="75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GDPR y datos personales, transparencia y explicabilidad; mitigar con gobernanza, privacidad y auditorías. </a:t>
            </a:r>
            <a:endParaRPr lang="en-U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E6A652C-EC9D-8A3A-3153-FD0D4756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72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6B8187-E757-4FC8-B477-400E9B1D39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799FB2-4C2A-4A56-AE8D-E0C9F15684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240035"/>
            <a:ext cx="109728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4A202C-2CE5-45CB-8ECD-CEB7B1A26C0D}"/>
              </a:ext>
            </a:extLst>
          </p:cNvPr>
          <p:cNvSpPr txBox="1"/>
          <p:nvPr/>
        </p:nvSpPr>
        <p:spPr>
          <a:xfrm>
            <a:off x="609600" y="571500"/>
            <a:ext cx="11430000" cy="4399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algn="l">
              <a:buNone/>
            </a:pPr>
            <a:r>
              <a:rPr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PLAN DE IMPLEMENTACIÓN </a:t>
            </a:r>
            <a:endParaRPr lang="en-U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A62823E-AE6B-3FB2-467D-FBA4D28D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1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817808-6B03-4889-9AFE-C2C3DB4C22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9B4DB6-DF91-41D1-A743-D6EE68993B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175" y="2953940"/>
            <a:ext cx="857250" cy="8572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1459175-5F3F-44D9-960B-F20C592144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8050" y="2953940"/>
            <a:ext cx="857250" cy="8572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DD1FD89-094E-4512-A77E-67923C020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7925" y="2953940"/>
            <a:ext cx="857250" cy="8572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7863B38-E08F-46CF-B038-6B35982F37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7800" y="2953940"/>
            <a:ext cx="857250" cy="857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E6BCCF-E2DE-4DCB-9AA8-C17E8BD0795D}"/>
              </a:ext>
            </a:extLst>
          </p:cNvPr>
          <p:cNvSpPr txBox="1"/>
          <p:nvPr/>
        </p:nvSpPr>
        <p:spPr>
          <a:xfrm>
            <a:off x="733425" y="962025"/>
            <a:ext cx="10953750" cy="72762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0" algn="l">
              <a:spcBef>
                <a:spcPts val="450"/>
              </a:spcBef>
              <a:buNone/>
            </a:pPr>
            <a:r>
              <a:rPr sz="4800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RECOMENDACIÓN FINAL</a:t>
            </a:r>
            <a:r>
              <a:rPr>
                <a:effectLst/>
              </a:rPr>
              <a:t> 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5BDB5-E81F-4034-A68A-23DC67507CE6}"/>
              </a:ext>
            </a:extLst>
          </p:cNvPr>
          <p:cNvSpPr txBox="1"/>
          <p:nvPr/>
        </p:nvSpPr>
        <p:spPr>
          <a:xfrm>
            <a:off x="733425" y="3982640"/>
            <a:ext cx="2524125" cy="19386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algn="l">
              <a:spcBef>
                <a:spcPts val="1350"/>
              </a:spcBef>
              <a:buNone/>
            </a:pPr>
            <a:r>
              <a:rPr sz="1800"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VALOR ESTRATÉGICO</a:t>
            </a:r>
            <a:r>
              <a:rPr>
                <a:effectLst/>
              </a:rPr>
              <a:t> </a:t>
            </a:r>
          </a:p>
          <a:p>
            <a:pPr marL="0" algn="l">
              <a:spcBef>
                <a:spcPts val="150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 Regular"/>
              </a:rPr>
              <a:t>La solución de IA impulsa objetivos de negocio, mejora eficiencia operativa y genera impacto económico medible.</a:t>
            </a:r>
            <a:r>
              <a:rPr>
                <a:effectLst/>
              </a:rPr>
              <a:t>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A33476-4249-48B6-95EF-1FBBD4D6ACC4}"/>
              </a:ext>
            </a:extLst>
          </p:cNvPr>
          <p:cNvSpPr txBox="1"/>
          <p:nvPr/>
        </p:nvSpPr>
        <p:spPr>
          <a:xfrm>
            <a:off x="3543300" y="3982640"/>
            <a:ext cx="2524125" cy="16643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algn="l">
              <a:spcBef>
                <a:spcPts val="1350"/>
              </a:spcBef>
              <a:buNone/>
            </a:pPr>
            <a:r>
              <a:rPr sz="1800"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DECISIÓN</a:t>
            </a:r>
            <a:r>
              <a:rPr>
                <a:effectLst/>
              </a:rPr>
              <a:t> </a:t>
            </a:r>
          </a:p>
          <a:p>
            <a:pPr marL="0" algn="l">
              <a:spcBef>
                <a:spcPts val="150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 Regular"/>
              </a:rPr>
              <a:t>Recomendación: GO, sustentado por datos y ROI estimado, con foco en captura rápida de beneficios.</a:t>
            </a:r>
            <a:r>
              <a:rPr>
                <a:effectLst/>
              </a:rPr>
              <a:t> 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CA6C9A-CFB7-400F-86DD-E61D02949B75}"/>
              </a:ext>
            </a:extLst>
          </p:cNvPr>
          <p:cNvSpPr txBox="1"/>
          <p:nvPr/>
        </p:nvSpPr>
        <p:spPr>
          <a:xfrm>
            <a:off x="6353175" y="3982640"/>
            <a:ext cx="2524125" cy="142443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algn="l">
              <a:spcBef>
                <a:spcPts val="1350"/>
              </a:spcBef>
              <a:buNone/>
            </a:pPr>
            <a:r>
              <a:rPr sz="1800"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ARRANQUE</a:t>
            </a:r>
            <a:r>
              <a:rPr>
                <a:effectLst/>
              </a:rPr>
              <a:t> </a:t>
            </a:r>
          </a:p>
          <a:p>
            <a:pPr marL="0" algn="l">
              <a:spcBef>
                <a:spcPts val="150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 Regular"/>
              </a:rPr>
              <a:t>Aprobar presupuesto y plan de ejecución; definir alcance del MVP y criterios de éxito.</a:t>
            </a:r>
            <a:r>
              <a:rPr>
                <a:effectLst/>
              </a:rPr>
              <a:t> 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77268-F497-4829-A442-A371A8FC1A2A}"/>
              </a:ext>
            </a:extLst>
          </p:cNvPr>
          <p:cNvSpPr txBox="1"/>
          <p:nvPr/>
        </p:nvSpPr>
        <p:spPr>
          <a:xfrm>
            <a:off x="9163050" y="3982640"/>
            <a:ext cx="2524125" cy="1424433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0" algn="l">
              <a:spcBef>
                <a:spcPts val="1350"/>
              </a:spcBef>
              <a:buNone/>
            </a:pPr>
            <a:r>
              <a:rPr sz="1800" b="1">
                <a:solidFill>
                  <a:srgbClr val="000000"/>
                </a:solidFill>
                <a:effectLst/>
                <a:latin typeface="Aharoni Bold" panose="02010803020104030203" pitchFamily="2" charset="-79"/>
                <a:cs typeface="Aharoni Bold" panose="02010803020104030203" pitchFamily="2" charset="-79"/>
              </a:rPr>
              <a:t>HABILITADORES</a:t>
            </a:r>
            <a:r>
              <a:rPr>
                <a:effectLst/>
              </a:rPr>
              <a:t> </a:t>
            </a:r>
          </a:p>
          <a:p>
            <a:pPr marL="0" algn="l">
              <a:spcBef>
                <a:spcPts val="1500"/>
              </a:spcBef>
              <a:buNone/>
            </a:pPr>
            <a:r>
              <a:rPr sz="1350" b="0">
                <a:solidFill>
                  <a:srgbClr val="000000"/>
                </a:solidFill>
                <a:effectLst/>
                <a:latin typeface="Aptos Regular"/>
              </a:rPr>
              <a:t>Asegurar acceso a datos, configurar gobernanza y conformar equipo (negocio, datos, TI) para iniciar.</a:t>
            </a:r>
            <a:r>
              <a:rPr>
                <a:effectLst/>
              </a:rPr>
              <a:t> </a:t>
            </a:r>
            <a:endParaRPr lang="en-U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1BFBFD6-365B-A588-02B3-C05BE18A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0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Bolígrafo situado en la parte superior de una línea de firma">
            <a:extLst>
              <a:ext uri="{FF2B5EF4-FFF2-40B4-BE49-F238E27FC236}">
                <a16:creationId xmlns:a16="http://schemas.microsoft.com/office/drawing/2014/main" id="{3D8AC2CE-FD8A-34BF-0B03-2C177A59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D45DD9-13E2-1C60-5237-59BC5AFE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 err="1">
                <a:solidFill>
                  <a:srgbClr val="FFFFFF"/>
                </a:solidFill>
              </a:rPr>
              <a:t>Rúbrica</a:t>
            </a:r>
            <a:r>
              <a:rPr lang="en-US" sz="5200" dirty="0">
                <a:solidFill>
                  <a:srgbClr val="FFFFFF"/>
                </a:solidFill>
              </a:rPr>
              <a:t> de </a:t>
            </a:r>
            <a:r>
              <a:rPr lang="en-US" sz="5200" dirty="0" err="1">
                <a:solidFill>
                  <a:srgbClr val="FFFFFF"/>
                </a:solidFill>
              </a:rPr>
              <a:t>evaluación</a:t>
            </a:r>
            <a:br>
              <a:rPr lang="en-US" sz="5200" dirty="0">
                <a:solidFill>
                  <a:srgbClr val="FFFFFF"/>
                </a:solidFill>
              </a:rPr>
            </a:br>
            <a:endParaRPr lang="en-US" sz="5200" dirty="0">
              <a:solidFill>
                <a:srgbClr val="FFFFFF"/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1856D4-CCAD-95BE-CCAB-8A7CFB535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26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10F68A-B0A9-3E1E-2E80-93CF1C622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/>
              <a:t>Cómo se corregirá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1D2242-A1E6-7E6F-B671-48B6FFE9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s-ES" sz="2200" dirty="0"/>
              <a:t>La sección de evaluación debe ser eliminada en la versión final del caso de negocio</a:t>
            </a:r>
          </a:p>
          <a:p>
            <a:r>
              <a:rPr lang="es-ES" sz="2200" dirty="0"/>
              <a:t>Se añade a título informativo para que el estudiante conozca con antelación los criterios por los que se llevará a cabo la evaluación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454CC4-1538-5134-8A70-7C7C8F6E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24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56510-67F3-E4C6-FD85-91E84029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3591EA-E562-0287-5B30-03D9C74F8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DEE998-74F0-1377-E76C-620E052C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 dirty="0"/>
              <a:t>1. Claridad del problema de negocio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2FA0424-4421-9FB7-F413-4C068DF6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5218B3-E0ED-2C73-A554-1901FDFD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Evalúa si el problema es real, relevante y cuantificado.</a:t>
            </a:r>
          </a:p>
          <a:p>
            <a:pPr marL="0" indent="0">
              <a:buNone/>
            </a:pPr>
            <a:endParaRPr lang="es-ES" sz="22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9C0285-63EA-CCB8-0925-F892F9D5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9BE5F96-C5DA-50CD-7228-A61E33590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24744"/>
              </p:ext>
            </p:extLst>
          </p:nvPr>
        </p:nvGraphicFramePr>
        <p:xfrm>
          <a:off x="917222" y="2568169"/>
          <a:ext cx="10515600" cy="32004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452347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22515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Nivel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861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13–15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Problema claramente definido, cuantificado y vinculado a KPIs críticos; coste actual bien fundamentado.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947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9–12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Problema claro y relevante, pero con cuantificación parcial o incompleta.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062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5–8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Problema genérico o poco conectado con métricas del negocio.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541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0–4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Problema ambiguo o sin relevancia empresarial demostrable.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80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044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A6C56-D9E7-FB99-56C8-E4586096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4BCA4-A77E-6F70-EFB8-D8E2FEC46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3B40D3-DBE7-ABE9-CBE8-C9590D26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sz="5400" dirty="0"/>
              <a:t>2. Alineación y claridad de la solución propuesta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3FE9365-0100-C67A-9B42-5D85C09B4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A455D4-14DB-174B-4A2D-4FDAE3F85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Evalúa el ajuste real entre problema y solución.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C456E5-D1ED-7411-C38E-48C6D700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56FA1538-9865-BCB3-9339-2412D9429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961608"/>
              </p:ext>
            </p:extLst>
          </p:nvPr>
        </p:nvGraphicFramePr>
        <p:xfrm>
          <a:off x="917222" y="2568169"/>
          <a:ext cx="10515600" cy="29260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452347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22515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Nivel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861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13–15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Solución perfectamente alineada con el problema, explicada en lenguaje ejecutivo y con flujo operacional claro.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947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9–12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Buena solución, pero falta claridad en cómo se integra en el proceso actual.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062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5–8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Solución tecnológicamente confusa o poco demostrada.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541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0–4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La solución no resuelve el problema o no se entiende.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80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162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6E6A5-B50C-949E-2690-DC761FF9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A6878AE-AA3A-F9E4-9A17-6D984AF2A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806DC0-97A0-90AB-EA20-7436C532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 dirty="0"/>
              <a:t>3. Impacto económico y escenarios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618B3AF-FC72-F477-1C1A-1F77B6494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B024F2-5979-B345-A6CF-E8794BDED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Evalúa rigor financiero y calidad de las hipótesis.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864AB6-9A0F-CA3D-1A18-6F4E889F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4E76936-2AD4-0C57-9DD9-B10A94929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613839"/>
              </p:ext>
            </p:extLst>
          </p:nvPr>
        </p:nvGraphicFramePr>
        <p:xfrm>
          <a:off x="838200" y="2492534"/>
          <a:ext cx="10515600" cy="26517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883127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58038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Nivel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878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17–20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Tres escenarios completos (C/R/O), hipótesis sólidas y cuantificación clara.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689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12–16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Escenarios presentes pero con hipótesis parcialmente justificadas.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256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6–11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Solo un escenario o estimaciones poco fundamentadas.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32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0–5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Sin cifras claras o sin escenarios.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038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865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8F506-916D-68BB-39B7-69E89D6D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F398-BDB7-E3B2-546F-761C9C6EA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C86927-D257-CE9A-903C-9E582A89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 dirty="0"/>
              <a:t>4. Costes y ROI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957E8C92-A615-0C24-1E1A-D96AD7A5A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A998DD-C08E-3442-A90A-548B898C9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Evalúa transparencia del coste y calidad del ROI.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E88607-C497-8B76-055F-50F82AF4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18EA057-AE99-5121-9BA9-EF87F9979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958398"/>
              </p:ext>
            </p:extLst>
          </p:nvPr>
        </p:nvGraphicFramePr>
        <p:xfrm>
          <a:off x="838200" y="2629694"/>
          <a:ext cx="10515600" cy="23774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893477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20800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Nivel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980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17–20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CAPEX/OPEX detallados, supuestos claros, ROI sólido y defendible.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314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12–16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Costes y ROI presentes pero con supuestos débiles o incompletos.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18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6–11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Costes genéricos; cálculo de ROI superficial.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75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0–5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Falta de cifras o ausencia de ROI.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056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757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45E7B-5DF8-4E2F-F7F5-E9A9DE44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BE9001-2524-C12B-33A7-0355C8719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EA267A-75D1-9CE4-EC30-A7AA72F8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 dirty="0"/>
              <a:t>5. Gestión de riesgos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57FF2E1-1EB5-FA16-17C7-A74517BAD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BAD843-2291-9FF2-0DCA-5FE9CBD94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Evalúa robustez del análisis de riesgo.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EA2AF0-AC19-C8CA-6D9C-F99DFA0D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6ED93BB-2EAF-738E-078F-65C5664FF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499047"/>
              </p:ext>
            </p:extLst>
          </p:nvPr>
        </p:nvGraphicFramePr>
        <p:xfrm>
          <a:off x="838200" y="2629694"/>
          <a:ext cx="10515600" cy="23774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691213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845211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Nivel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66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9–10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Riesgos técnicos, legales y organizativos con planes de mitigación claros.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233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6–8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Riesgos identificados pero mitigación poco desarrollada.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14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3–5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Riesgos genéricos o incompletos.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794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0–2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Sin identificación de riesgos.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69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78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A8EE0-8FA8-DFCF-1429-008917C8D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3B7BBF-224C-7D72-7370-65A57C792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086AA2-E8C3-D19B-CF4A-15BCA7D45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ES" sz="5400" dirty="0"/>
              <a:t>6. Plan de implementación (</a:t>
            </a:r>
            <a:r>
              <a:rPr lang="es-ES" sz="5400" dirty="0" err="1"/>
              <a:t>Roadmap</a:t>
            </a:r>
            <a:r>
              <a:rPr lang="es-ES" sz="5400" dirty="0"/>
              <a:t>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337E401-58B0-5437-427A-46B969F06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35FA05-507E-3BA3-65AA-870E3E4E8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Evalúa la viabilidad de ejecución.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645799-E4C4-B1D7-4B9D-F1876B69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21155CD-C71C-3806-B2E1-99312CFFB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762438"/>
              </p:ext>
            </p:extLst>
          </p:nvPr>
        </p:nvGraphicFramePr>
        <p:xfrm>
          <a:off x="838200" y="2629694"/>
          <a:ext cx="10515600" cy="23774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754300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4130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Nivel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771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9–10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Roadmap claro (PoC → MVP → Escalado), tiempos realistas y entregables definidos.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155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6–8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Roadmap entendible pero con tiempos o entregables vagos.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778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3–5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Plan básico con fases poco detalladas.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008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0–2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Sin plan de implementación.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417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216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F212A-7120-C790-AE98-B7F26AE45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F41905-2698-0361-81B3-343949A81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70AC8A-8A84-8A0A-EB7F-27EBD7E6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23" y="365125"/>
            <a:ext cx="11774310" cy="1325563"/>
          </a:xfrm>
        </p:spPr>
        <p:txBody>
          <a:bodyPr>
            <a:normAutofit fontScale="90000"/>
          </a:bodyPr>
          <a:lstStyle/>
          <a:p>
            <a:r>
              <a:rPr lang="es-ES" sz="5400" dirty="0"/>
              <a:t>7. Calidad ejecutiva y claridad de presentación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6FB4BD3-76A3-268A-BCF9-07E3050C4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471F5C-47DE-E0E9-2D78-838EC1B29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Evalúa la capacidad de comunicar valor.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62FCED-8684-79FB-ECC2-439929B2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2DF4C75-3AB2-B5AA-6939-23E873D36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012753"/>
              </p:ext>
            </p:extLst>
          </p:nvPr>
        </p:nvGraphicFramePr>
        <p:xfrm>
          <a:off x="838200" y="2629694"/>
          <a:ext cx="10515600" cy="23774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342703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46233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Nivel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>
                          <a:effectLst/>
                        </a:rPr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559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9–10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Presentación muy visual, clara, ejecutiva y con storytelling sólido.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5632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6–8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Presentación buena pero mejorable visualmente o en estructura.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840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3–5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effectLst/>
                        </a:rPr>
                        <a:t>Contenido útil pero denso o poco visual.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517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>
                          <a:effectLst/>
                        </a:rPr>
                        <a:t>0–2</a:t>
                      </a:r>
                      <a:endParaRPr lang="es-E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>
                          <a:effectLst/>
                        </a:rPr>
                        <a:t>Difícil de entender o mal estructurada.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4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384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2328</Words>
  <Application>Microsoft Office PowerPoint</Application>
  <PresentationFormat>Panorámica</PresentationFormat>
  <Paragraphs>170</Paragraphs>
  <Slides>18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Aharoni Bold</vt:lpstr>
      <vt:lpstr>Aptos</vt:lpstr>
      <vt:lpstr>Aptos Regular</vt:lpstr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Rúbrica de evaluación </vt:lpstr>
      <vt:lpstr>Cómo se corregirá</vt:lpstr>
      <vt:lpstr>1. Claridad del problema de negocio</vt:lpstr>
      <vt:lpstr>2. Alineación y claridad de la solución propuesta</vt:lpstr>
      <vt:lpstr>3. Impacto económico y escenarios</vt:lpstr>
      <vt:lpstr>4. Costes y ROI</vt:lpstr>
      <vt:lpstr>5. Gestión de riesgos</vt:lpstr>
      <vt:lpstr>6. Plan de implementación (Roadmap)</vt:lpstr>
      <vt:lpstr>7. Calidad ejecutiva y claridad de presentación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jose.herrerafernandez@ceu.es</dc:creator>
  <cp:lastModifiedBy>José Maria Herrera Fernández</cp:lastModifiedBy>
  <cp:revision>5</cp:revision>
  <dcterms:modified xsi:type="dcterms:W3CDTF">2026-04-04T10:06:52Z</dcterms:modified>
</cp:coreProperties>
</file>